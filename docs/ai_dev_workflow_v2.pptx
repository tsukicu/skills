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0891B2">
              <a:alpha val="15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7772400" y="2743200"/>
            <a:ext cx="2743200" cy="2743200"/>
          </a:xfrm>
          <a:prstGeom prst="ellipse">
            <a:avLst/>
          </a:prstGeom>
          <a:solidFill>
            <a:srgbClr val="7C3AED">
              <a:alpha val="15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-914400" y="3200400"/>
            <a:ext cx="3200400" cy="3200400"/>
          </a:xfrm>
          <a:prstGeom prst="ellipse">
            <a:avLst/>
          </a:prstGeom>
          <a:solidFill>
            <a:srgbClr val="3B82F6">
              <a:alpha val="10000"/>
            </a:srgbClr>
          </a:solidFill>
        </p:spPr>
      </p:sp>
      <p:sp>
        <p:nvSpPr>
          <p:cNvPr id="5" name="Shape 3"/>
          <p:cNvSpPr/>
          <p:nvPr/>
        </p:nvSpPr>
        <p:spPr>
          <a:xfrm>
            <a:off x="731520" y="914400"/>
            <a:ext cx="1463040" cy="347472"/>
          </a:xfrm>
          <a:prstGeom prst="roundRect">
            <a:avLst>
              <a:gd name="adj" fmla="val 50000"/>
            </a:avLst>
          </a:prstGeom>
          <a:solidFill>
            <a:srgbClr val="0891B2"/>
          </a:solidFill>
        </p:spPr>
      </p:sp>
      <p:sp>
        <p:nvSpPr>
          <p:cNvPr id="6" name="Text 4"/>
          <p:cNvSpPr/>
          <p:nvPr/>
        </p:nvSpPr>
        <p:spPr>
          <a:xfrm>
            <a:off x="731520" y="914400"/>
            <a:ext cx="14630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技术分享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1554480"/>
            <a:ext cx="64008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别只用 Tab 补全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731520" y="2423160"/>
            <a:ext cx="64008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辅助开发的正确打开方式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31520" y="4389120"/>
            <a:ext cx="2743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四层架构全景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37160" y="960120"/>
            <a:ext cx="9144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接口层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188720" y="960120"/>
            <a:ext cx="1837944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E63946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188720" y="960120"/>
            <a:ext cx="1837944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Copilot</a:t>
            </a:r>
            <a:endParaRPr lang="en-US" sz="10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/ Cursor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136392" y="960120"/>
            <a:ext cx="1837944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E63946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136392" y="960120"/>
            <a:ext cx="1837944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对话式 AI</a:t>
            </a:r>
            <a:endParaRPr lang="en-US" sz="10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/ ChatGPT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84064" y="960120"/>
            <a:ext cx="1837944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E63946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84064" y="960120"/>
            <a:ext cx="1837944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AI</a:t>
            </a:r>
            <a:endParaRPr lang="en-US" sz="10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031736" y="960120"/>
            <a:ext cx="1837944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E63946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031736" y="960120"/>
            <a:ext cx="1837944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AI</a:t>
            </a:r>
            <a:endParaRPr lang="en-US" sz="10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Review / Test Gen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37160" y="1920240"/>
            <a:ext cx="9144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188720" y="1920240"/>
            <a:ext cx="2487168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E67E22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188720" y="1920240"/>
            <a:ext cx="2487168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Sub-agent</a:t>
            </a:r>
            <a:endParaRPr lang="en-US" sz="10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并行子任务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785616" y="1920240"/>
            <a:ext cx="2487168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E67E22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785616" y="1920240"/>
            <a:ext cx="2487168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Orchestrator</a:t>
            </a:r>
            <a:endParaRPr lang="en-US" sz="10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任务规划 · 推理循环 · 结果整合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382512" y="1920240"/>
            <a:ext cx="2487168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E67E22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382512" y="1920240"/>
            <a:ext cx="2487168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Sub-agent</a:t>
            </a:r>
            <a:endParaRPr lang="en-US" sz="10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并行子任务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37160" y="2880360"/>
            <a:ext cx="9144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能力层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188720" y="2880360"/>
            <a:ext cx="2487168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0891B2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188720" y="2880360"/>
            <a:ext cx="2487168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10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可复用的封装能力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785616" y="2880360"/>
            <a:ext cx="2487168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0891B2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785616" y="2880360"/>
            <a:ext cx="2487168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Use</a:t>
            </a:r>
            <a:endParaRPr lang="en-US" sz="10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Calling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382512" y="2880360"/>
            <a:ext cx="2487168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0891B2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382512" y="2880360"/>
            <a:ext cx="2487168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10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私有知识检索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37160" y="3840480"/>
            <a:ext cx="9144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协议层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188720" y="3840480"/>
            <a:ext cx="2487168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1188720" y="3840480"/>
            <a:ext cx="2487168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785616" y="3840480"/>
            <a:ext cx="2487168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785616" y="3840480"/>
            <a:ext cx="2487168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</a:t>
            </a:r>
            <a:endParaRPr lang="en-US" sz="10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 · 工具标准接口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382512" y="3840480"/>
            <a:ext cx="2487168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382512" y="3840480"/>
            <a:ext cx="2487168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389120" y="1645920"/>
            <a:ext cx="7315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</a:rPr>
              <a:t>▼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389120" y="2606040"/>
            <a:ext cx="7315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</a:rPr>
              <a:t>▼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389120" y="3566160"/>
            <a:ext cx="7315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</a:rPr>
              <a:t>▼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技术演进路线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" y="1097280"/>
            <a:ext cx="1508760" cy="2651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20040" y="1097280"/>
            <a:ext cx="1508760" cy="45720"/>
          </a:xfrm>
          <a:prstGeom prst="rect">
            <a:avLst/>
          </a:prstGeom>
          <a:solidFill>
            <a:srgbClr val="94A3B8"/>
          </a:solidFill>
        </p:spPr>
      </p:sp>
      <p:sp>
        <p:nvSpPr>
          <p:cNvPr id="5" name="Shape 3"/>
          <p:cNvSpPr/>
          <p:nvPr/>
        </p:nvSpPr>
        <p:spPr>
          <a:xfrm>
            <a:off x="868680" y="1325880"/>
            <a:ext cx="411480" cy="411480"/>
          </a:xfrm>
          <a:prstGeom prst="ellipse">
            <a:avLst/>
          </a:prstGeom>
          <a:solidFill>
            <a:srgbClr val="94A3B8"/>
          </a:solidFill>
        </p:spPr>
      </p:sp>
      <p:sp>
        <p:nvSpPr>
          <p:cNvPr id="6" name="Text 4"/>
          <p:cNvSpPr/>
          <p:nvPr/>
        </p:nvSpPr>
        <p:spPr>
          <a:xfrm>
            <a:off x="868680" y="1325880"/>
            <a:ext cx="4114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1</a:t>
            </a:r>
            <a:endParaRPr lang="en-US" sz="15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192024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20040" y="2423160"/>
            <a:ext cx="1508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Chat Box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11480" y="2834640"/>
            <a:ext cx="1325880" cy="777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纯对话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复制粘贴代码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828800" y="2103120"/>
            <a:ext cx="182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4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›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2011680" y="1097280"/>
            <a:ext cx="1508760" cy="2651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011680" y="1097280"/>
            <a:ext cx="1508760" cy="4572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13" name="Shape 10"/>
          <p:cNvSpPr/>
          <p:nvPr/>
        </p:nvSpPr>
        <p:spPr>
          <a:xfrm>
            <a:off x="2560320" y="1325880"/>
            <a:ext cx="411480" cy="411480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14" name="Text 11"/>
          <p:cNvSpPr/>
          <p:nvPr/>
        </p:nvSpPr>
        <p:spPr>
          <a:xfrm>
            <a:off x="2560320" y="1325880"/>
            <a:ext cx="4114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2</a:t>
            </a:r>
            <a:endParaRPr lang="en-US" sz="15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3180" y="1920240"/>
            <a:ext cx="365760" cy="3657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011680" y="2423160"/>
            <a:ext cx="1508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Tool Use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2103120" y="2834640"/>
            <a:ext cx="1325880" cy="777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Calling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主动调用工具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3520440" y="2103120"/>
            <a:ext cx="182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4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›</a:t>
            </a:r>
            <a:endParaRPr lang="en-US" sz="2200" dirty="0"/>
          </a:p>
        </p:txBody>
      </p:sp>
      <p:sp>
        <p:nvSpPr>
          <p:cNvPr id="19" name="Shape 15"/>
          <p:cNvSpPr/>
          <p:nvPr/>
        </p:nvSpPr>
        <p:spPr>
          <a:xfrm>
            <a:off x="3703320" y="1097280"/>
            <a:ext cx="1508760" cy="2651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3703320" y="1097280"/>
            <a:ext cx="1508760" cy="45720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21" name="Shape 17"/>
          <p:cNvSpPr/>
          <p:nvPr/>
        </p:nvSpPr>
        <p:spPr>
          <a:xfrm>
            <a:off x="4251960" y="1325880"/>
            <a:ext cx="411480" cy="411480"/>
          </a:xfrm>
          <a:prstGeom prst="ellipse">
            <a:avLst/>
          </a:prstGeom>
          <a:solidFill>
            <a:srgbClr val="7C3AED"/>
          </a:solidFill>
        </p:spPr>
      </p:sp>
      <p:sp>
        <p:nvSpPr>
          <p:cNvPr id="22" name="Text 18"/>
          <p:cNvSpPr/>
          <p:nvPr/>
        </p:nvSpPr>
        <p:spPr>
          <a:xfrm>
            <a:off x="4251960" y="1325880"/>
            <a:ext cx="4114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3</a:t>
            </a:r>
            <a:endParaRPr lang="en-US" sz="1500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4820" y="1920240"/>
            <a:ext cx="365760" cy="36576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3703320" y="2423160"/>
            <a:ext cx="1508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MCP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3794760" y="2834640"/>
            <a:ext cx="1325880" cy="777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标准协议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统一外部连接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5212080" y="2103120"/>
            <a:ext cx="182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4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›</a:t>
            </a:r>
            <a:endParaRPr lang="en-US" sz="2200" dirty="0"/>
          </a:p>
        </p:txBody>
      </p:sp>
      <p:sp>
        <p:nvSpPr>
          <p:cNvPr id="27" name="Shape 22"/>
          <p:cNvSpPr/>
          <p:nvPr/>
        </p:nvSpPr>
        <p:spPr>
          <a:xfrm>
            <a:off x="5394960" y="1097280"/>
            <a:ext cx="1508760" cy="2651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5394960" y="1097280"/>
            <a:ext cx="1508760" cy="45720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29" name="Shape 24"/>
          <p:cNvSpPr/>
          <p:nvPr/>
        </p:nvSpPr>
        <p:spPr>
          <a:xfrm>
            <a:off x="5943600" y="1325880"/>
            <a:ext cx="411480" cy="411480"/>
          </a:xfrm>
          <a:prstGeom prst="ellipse">
            <a:avLst/>
          </a:prstGeom>
          <a:solidFill>
            <a:srgbClr val="0891B2"/>
          </a:solidFill>
        </p:spPr>
      </p:sp>
      <p:sp>
        <p:nvSpPr>
          <p:cNvPr id="30" name="Text 25"/>
          <p:cNvSpPr/>
          <p:nvPr/>
        </p:nvSpPr>
        <p:spPr>
          <a:xfrm>
            <a:off x="5943600" y="1325880"/>
            <a:ext cx="4114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4</a:t>
            </a:r>
            <a:endParaRPr lang="en-US" sz="1500" dirty="0"/>
          </a:p>
        </p:txBody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6460" y="1920240"/>
            <a:ext cx="365760" cy="36576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5394960" y="2423160"/>
            <a:ext cx="1508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Skills</a:t>
            </a:r>
            <a:endParaRPr lang="en-US" sz="1500" dirty="0"/>
          </a:p>
        </p:txBody>
      </p:sp>
      <p:sp>
        <p:nvSpPr>
          <p:cNvPr id="33" name="Text 27"/>
          <p:cNvSpPr/>
          <p:nvPr/>
        </p:nvSpPr>
        <p:spPr>
          <a:xfrm>
            <a:off x="5486400" y="2834640"/>
            <a:ext cx="1325880" cy="777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封装专家流程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稳定高质量输出</a:t>
            </a:r>
            <a:endParaRPr lang="en-US" sz="1100" dirty="0"/>
          </a:p>
        </p:txBody>
      </p:sp>
      <p:sp>
        <p:nvSpPr>
          <p:cNvPr id="34" name="Text 28"/>
          <p:cNvSpPr/>
          <p:nvPr/>
        </p:nvSpPr>
        <p:spPr>
          <a:xfrm>
            <a:off x="6903720" y="2103120"/>
            <a:ext cx="182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4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›</a:t>
            </a:r>
            <a:endParaRPr lang="en-US" sz="2200" dirty="0"/>
          </a:p>
        </p:txBody>
      </p:sp>
      <p:sp>
        <p:nvSpPr>
          <p:cNvPr id="35" name="Shape 29"/>
          <p:cNvSpPr/>
          <p:nvPr/>
        </p:nvSpPr>
        <p:spPr>
          <a:xfrm>
            <a:off x="7086600" y="1097280"/>
            <a:ext cx="1508760" cy="2651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6" name="Shape 30"/>
          <p:cNvSpPr/>
          <p:nvPr/>
        </p:nvSpPr>
        <p:spPr>
          <a:xfrm>
            <a:off x="7086600" y="1097280"/>
            <a:ext cx="1508760" cy="45720"/>
          </a:xfrm>
          <a:prstGeom prst="rect">
            <a:avLst/>
          </a:prstGeom>
          <a:solidFill>
            <a:srgbClr val="E63946"/>
          </a:solidFill>
        </p:spPr>
      </p:sp>
      <p:sp>
        <p:nvSpPr>
          <p:cNvPr id="37" name="Shape 31"/>
          <p:cNvSpPr/>
          <p:nvPr/>
        </p:nvSpPr>
        <p:spPr>
          <a:xfrm>
            <a:off x="7635240" y="1325880"/>
            <a:ext cx="411480" cy="411480"/>
          </a:xfrm>
          <a:prstGeom prst="ellipse">
            <a:avLst/>
          </a:prstGeom>
          <a:solidFill>
            <a:srgbClr val="E63946"/>
          </a:solidFill>
        </p:spPr>
      </p:sp>
      <p:sp>
        <p:nvSpPr>
          <p:cNvPr id="38" name="Text 32"/>
          <p:cNvSpPr/>
          <p:nvPr/>
        </p:nvSpPr>
        <p:spPr>
          <a:xfrm>
            <a:off x="7635240" y="1325880"/>
            <a:ext cx="4114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5</a:t>
            </a:r>
            <a:endParaRPr lang="en-US" sz="1500" dirty="0"/>
          </a:p>
        </p:txBody>
      </p:sp>
      <p:pic>
        <p:nvPicPr>
          <p:cNvPr id="39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58100" y="1920240"/>
            <a:ext cx="365760" cy="365760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7086600" y="2423160"/>
            <a:ext cx="1508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集成工具</a:t>
            </a:r>
            <a:endParaRPr lang="en-US" sz="1500" dirty="0"/>
          </a:p>
        </p:txBody>
      </p:sp>
      <p:sp>
        <p:nvSpPr>
          <p:cNvPr id="41" name="Text 34"/>
          <p:cNvSpPr/>
          <p:nvPr/>
        </p:nvSpPr>
        <p:spPr>
          <a:xfrm>
            <a:off x="7178040" y="2834640"/>
            <a:ext cx="1325880" cy="777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等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端到端开发环境</a:t>
            </a:r>
            <a:endParaRPr lang="en-US" sz="1100" dirty="0"/>
          </a:p>
        </p:txBody>
      </p:sp>
      <p:sp>
        <p:nvSpPr>
          <p:cNvPr id="42" name="Shape 35"/>
          <p:cNvSpPr/>
          <p:nvPr/>
        </p:nvSpPr>
        <p:spPr>
          <a:xfrm>
            <a:off x="548640" y="4069080"/>
            <a:ext cx="8046720" cy="594360"/>
          </a:xfrm>
          <a:prstGeom prst="roundRect">
            <a:avLst>
              <a:gd name="adj" fmla="val 9231"/>
            </a:avLst>
          </a:prstGeom>
          <a:solidFill>
            <a:srgbClr val="EEF0F6"/>
          </a:solidFill>
        </p:spPr>
      </p:sp>
      <p:sp>
        <p:nvSpPr>
          <p:cNvPr id="43" name="Text 36"/>
          <p:cNvSpPr/>
          <p:nvPr/>
        </p:nvSpPr>
        <p:spPr>
          <a:xfrm>
            <a:off x="731520" y="4069080"/>
            <a:ext cx="76809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核心趋势：AI 从「被动回答」→「主动执行」→「专家级交付」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MCP vs Skills：边界与分工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370332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960120"/>
            <a:ext cx="3703320" cy="45720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5" name="Text 3"/>
          <p:cNvSpPr/>
          <p:nvPr/>
        </p:nvSpPr>
        <p:spPr>
          <a:xfrm>
            <a:off x="548640" y="1097280"/>
            <a:ext cx="3703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7C3AED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MCP — 协议层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1508760"/>
            <a:ext cx="3246120" cy="1645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93B"/>
                </a:solidFill>
              </a:rPr>
              <a:t>解决「连接」问题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7C3AED"/>
                </a:solidFill>
              </a:rPr>
              <a:t>类比：USB-C 接口标准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定义 AI 与外部系统的通信协议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标准化工具描述与调用方式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一次接入，所有 AI 都能用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社区驱动，开放生态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26280" y="960120"/>
            <a:ext cx="370332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9050">
            <a:solidFill>
              <a:srgbClr val="0891B2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26280" y="960120"/>
            <a:ext cx="3703320" cy="45720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9" name="Text 7"/>
          <p:cNvSpPr/>
          <p:nvPr/>
        </p:nvSpPr>
        <p:spPr>
          <a:xfrm>
            <a:off x="4526280" y="1097280"/>
            <a:ext cx="3703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891B2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Skills — 能力层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754880" y="1508760"/>
            <a:ext cx="3246120" cy="1645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93B"/>
                </a:solidFill>
              </a:rPr>
              <a:t>解决「怎么做好」问题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0891B2"/>
                </a:solidFill>
              </a:rPr>
              <a:t>类比：专家操作手册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封装领域最佳实践与工作流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包含 QA、验证、异常处理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确保输出质量稳定可控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可复用、可组合、可定制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474720"/>
            <a:ext cx="8046720" cy="1371600"/>
          </a:xfrm>
          <a:prstGeom prst="roundRect">
            <a:avLst>
              <a:gd name="adj" fmla="val 5333"/>
            </a:avLst>
          </a:prstGeom>
          <a:solidFill>
            <a:srgbClr val="EEF0F6"/>
          </a:solidFill>
        </p:spPr>
      </p:sp>
      <p:sp>
        <p:nvSpPr>
          <p:cNvPr id="12" name="Text 10"/>
          <p:cNvSpPr/>
          <p:nvPr/>
        </p:nvSpPr>
        <p:spPr>
          <a:xfrm>
            <a:off x="731520" y="3566160"/>
            <a:ext cx="7680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9E0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为什么不会互相取代？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31520" y="3931920"/>
            <a:ext cx="7680960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7C3AED"/>
                </a:solidFill>
              </a:rPr>
              <a:t>MCP 负责「通道」</a:t>
            </a:r>
            <a:r>
              <a:rPr lang="en-US" sz="1200" dirty="0">
                <a:solidFill>
                  <a:srgbClr val="475569"/>
                </a:solidFill>
              </a:rPr>
              <a:t> —— 让 AI 能访问 GitHub、数据库、Slack 等外部系统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0891B2"/>
                </a:solidFill>
              </a:rPr>
              <a:t>Skills 负责「流程」</a:t>
            </a:r>
            <a:r>
              <a:rPr lang="en-US" sz="1200" dirty="0">
                <a:solidFill>
                  <a:srgbClr val="475569"/>
                </a:solidFill>
              </a:rPr>
              <a:t> —— 拿到数据后，按专家级流程加工出高质量结果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1E293B"/>
                </a:solidFill>
              </a:rPr>
              <a:t>两者正交互补：Skills 内部往往要调用 MCP 连接的工具来完成任务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Skills 实战演示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这个 PPT 本身就是 Skills 的产物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874520" cy="219456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65860" y="1371600"/>
            <a:ext cx="457200" cy="457200"/>
          </a:xfrm>
          <a:prstGeom prst="ellipse">
            <a:avLst/>
          </a:prstGeom>
          <a:solidFill>
            <a:srgbClr val="3B82F6"/>
          </a:solidFill>
        </p:spPr>
      </p:sp>
      <p:sp>
        <p:nvSpPr>
          <p:cNvPr id="6" name="Text 4"/>
          <p:cNvSpPr/>
          <p:nvPr/>
        </p:nvSpPr>
        <p:spPr>
          <a:xfrm>
            <a:off x="1165860" y="137160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18745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识别任务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66928" y="2377440"/>
            <a:ext cx="1655064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用户说「帮我做 PPT」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匹配 pptx Skill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331720" y="1828800"/>
            <a:ext cx="182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4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›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2514600" y="1188720"/>
            <a:ext cx="1874520" cy="219456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23260" y="1371600"/>
            <a:ext cx="457200" cy="457200"/>
          </a:xfrm>
          <a:prstGeom prst="ellipse">
            <a:avLst/>
          </a:prstGeom>
          <a:solidFill>
            <a:srgbClr val="7C3AED"/>
          </a:solidFill>
        </p:spPr>
      </p:sp>
      <p:sp>
        <p:nvSpPr>
          <p:cNvPr id="12" name="Text 10"/>
          <p:cNvSpPr/>
          <p:nvPr/>
        </p:nvSpPr>
        <p:spPr>
          <a:xfrm>
            <a:off x="3223260" y="137160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514600" y="1965960"/>
            <a:ext cx="18745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加载规范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624328" y="2377440"/>
            <a:ext cx="1655064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读取 SKILL.md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配色 · 排版 · QA 流程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389120" y="1828800"/>
            <a:ext cx="182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4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›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4572000" y="1188720"/>
            <a:ext cx="1874520" cy="219456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280660" y="1371600"/>
            <a:ext cx="457200" cy="457200"/>
          </a:xfrm>
          <a:prstGeom prst="ellipse">
            <a:avLst/>
          </a:prstGeom>
          <a:solidFill>
            <a:srgbClr val="0891B2"/>
          </a:solidFill>
        </p:spPr>
      </p:sp>
      <p:sp>
        <p:nvSpPr>
          <p:cNvPr id="18" name="Text 16"/>
          <p:cNvSpPr/>
          <p:nvPr/>
        </p:nvSpPr>
        <p:spPr>
          <a:xfrm>
            <a:off x="5280660" y="137160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0" y="1965960"/>
            <a:ext cx="18745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执行生成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681728" y="2377440"/>
            <a:ext cx="1655064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调用 PptxGenJS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按规范逐页制作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46520" y="1828800"/>
            <a:ext cx="182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4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›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6629400" y="1188720"/>
            <a:ext cx="1874520" cy="219456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338060" y="1371600"/>
            <a:ext cx="457200" cy="457200"/>
          </a:xfrm>
          <a:prstGeom prst="ellipse">
            <a:avLst/>
          </a:prstGeom>
          <a:solidFill>
            <a:srgbClr val="10B981"/>
          </a:solidFill>
        </p:spPr>
      </p:sp>
      <p:sp>
        <p:nvSpPr>
          <p:cNvPr id="24" name="Text 22"/>
          <p:cNvSpPr/>
          <p:nvPr/>
        </p:nvSpPr>
        <p:spPr>
          <a:xfrm>
            <a:off x="7338060" y="137160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629400" y="1965960"/>
            <a:ext cx="18745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质量验证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739128" y="2377440"/>
            <a:ext cx="1655064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转图片逐页检查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修复后交付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3749040"/>
            <a:ext cx="8046720" cy="914400"/>
          </a:xfrm>
          <a:prstGeom prst="roundRect">
            <a:avLst>
              <a:gd name="adj" fmla="val 6000"/>
            </a:avLst>
          </a:prstGeom>
          <a:solidFill>
            <a:srgbClr val="EEF0F6"/>
          </a:solidFill>
        </p:spPr>
      </p:sp>
      <p:sp>
        <p:nvSpPr>
          <p:cNvPr id="28" name="Shape 26"/>
          <p:cNvSpPr/>
          <p:nvPr/>
        </p:nvSpPr>
        <p:spPr>
          <a:xfrm>
            <a:off x="548640" y="3749040"/>
            <a:ext cx="54864" cy="914400"/>
          </a:xfrm>
          <a:prstGeom prst="rect">
            <a:avLst/>
          </a:prstGeom>
          <a:solidFill>
            <a:srgbClr val="E63946"/>
          </a:solidFill>
        </p:spPr>
      </p:sp>
      <p:sp>
        <p:nvSpPr>
          <p:cNvPr id="29" name="Text 27"/>
          <p:cNvSpPr/>
          <p:nvPr/>
        </p:nvSpPr>
        <p:spPr>
          <a:xfrm>
            <a:off x="777240" y="3794760"/>
            <a:ext cx="76352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3946"/>
                </a:solidFill>
              </a:rPr>
              <a:t>Skill ≠ 单次工具调用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</a:rPr>
              <a:t>Skill 是一整套封装好的专家工作流：知道该用什么工具、怎么用、有哪些坑、怎么验证质量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Claude Code 开发流程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80467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从零开始的 AI 原生开发工作流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87452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5240">
            <a:solidFill>
              <a:srgbClr val="3B82F6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1874520" cy="36576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6" name="Shape 4"/>
          <p:cNvSpPr/>
          <p:nvPr/>
        </p:nvSpPr>
        <p:spPr>
          <a:xfrm>
            <a:off x="548640" y="1161288"/>
            <a:ext cx="548640" cy="201168"/>
          </a:xfrm>
          <a:prstGeom prst="roundRect">
            <a:avLst>
              <a:gd name="adj" fmla="val 50000"/>
            </a:avLst>
          </a:prstGeom>
          <a:solidFill>
            <a:srgbClr val="3B82F6"/>
          </a:solidFill>
        </p:spPr>
      </p:sp>
      <p:sp>
        <p:nvSpPr>
          <p:cNvPr id="7" name="Text 5"/>
          <p:cNvSpPr/>
          <p:nvPr/>
        </p:nvSpPr>
        <p:spPr>
          <a:xfrm>
            <a:off x="548640" y="1161288"/>
            <a:ext cx="5486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规划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30352" y="1417320"/>
            <a:ext cx="172821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对话确认思路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30352" y="1709928"/>
            <a:ext cx="1728216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与 CC 讨论需求</a:t>
            </a:r>
            <a:endParaRPr lang="en-US" sz="10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明确架构方向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331720" y="1371600"/>
            <a:ext cx="16459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4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›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496312" y="1051560"/>
            <a:ext cx="187452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5240">
            <a:solidFill>
              <a:srgbClr val="7C3AED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96312" y="1051560"/>
            <a:ext cx="1874520" cy="36576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13" name="Shape 11"/>
          <p:cNvSpPr/>
          <p:nvPr/>
        </p:nvSpPr>
        <p:spPr>
          <a:xfrm>
            <a:off x="2587752" y="1161288"/>
            <a:ext cx="548640" cy="201168"/>
          </a:xfrm>
          <a:prstGeom prst="roundRect">
            <a:avLst>
              <a:gd name="adj" fmla="val 50000"/>
            </a:avLst>
          </a:prstGeom>
          <a:solidFill>
            <a:srgbClr val="7C3AED"/>
          </a:solidFill>
        </p:spPr>
      </p:sp>
      <p:sp>
        <p:nvSpPr>
          <p:cNvPr id="14" name="Text 12"/>
          <p:cNvSpPr/>
          <p:nvPr/>
        </p:nvSpPr>
        <p:spPr>
          <a:xfrm>
            <a:off x="2587752" y="1161288"/>
            <a:ext cx="5486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配置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569464" y="1417320"/>
            <a:ext cx="172821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编写 CLAUDE.md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569464" y="1709928"/>
            <a:ext cx="1728216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项目规范 · 代码风格</a:t>
            </a:r>
            <a:endParaRPr lang="en-US" sz="10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技术栈 · 约束条件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370832" y="1371600"/>
            <a:ext cx="16459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4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›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4535424" y="1051560"/>
            <a:ext cx="187452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5240">
            <a:solidFill>
              <a:srgbClr val="0891B2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35424" y="1051560"/>
            <a:ext cx="1874520" cy="36576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20" name="Shape 18"/>
          <p:cNvSpPr/>
          <p:nvPr/>
        </p:nvSpPr>
        <p:spPr>
          <a:xfrm>
            <a:off x="4626864" y="1161288"/>
            <a:ext cx="548640" cy="201168"/>
          </a:xfrm>
          <a:prstGeom prst="roundRect">
            <a:avLst>
              <a:gd name="adj" fmla="val 50000"/>
            </a:avLst>
          </a:prstGeom>
          <a:solidFill>
            <a:srgbClr val="0891B2"/>
          </a:solidFill>
        </p:spPr>
      </p:sp>
      <p:sp>
        <p:nvSpPr>
          <p:cNvPr id="21" name="Text 19"/>
          <p:cNvSpPr/>
          <p:nvPr/>
        </p:nvSpPr>
        <p:spPr>
          <a:xfrm>
            <a:off x="4626864" y="1161288"/>
            <a:ext cx="5486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配置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608576" y="1417320"/>
            <a:ext cx="172821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自定义 Skills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608576" y="1709928"/>
            <a:ext cx="1728216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.claude/skills/</a:t>
            </a:r>
            <a:endParaRPr lang="en-US" sz="10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封装团队最佳实践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9944" y="1371600"/>
            <a:ext cx="16459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4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›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6574536" y="1051560"/>
            <a:ext cx="187452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574536" y="1051560"/>
            <a:ext cx="1874520" cy="36576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27" name="Shape 25"/>
          <p:cNvSpPr/>
          <p:nvPr/>
        </p:nvSpPr>
        <p:spPr>
          <a:xfrm>
            <a:off x="6665976" y="1161288"/>
            <a:ext cx="548640" cy="201168"/>
          </a:xfrm>
          <a:prstGeom prst="roundRect">
            <a:avLst>
              <a:gd name="adj" fmla="val 50000"/>
            </a:avLst>
          </a:prstGeom>
          <a:solidFill>
            <a:srgbClr val="F59E0B"/>
          </a:solidFill>
        </p:spPr>
      </p:sp>
      <p:sp>
        <p:nvSpPr>
          <p:cNvPr id="28" name="Text 26"/>
          <p:cNvSpPr/>
          <p:nvPr/>
        </p:nvSpPr>
        <p:spPr>
          <a:xfrm>
            <a:off x="6665976" y="1161288"/>
            <a:ext cx="5486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配置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647688" y="1417320"/>
            <a:ext cx="172821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配置 MCP Server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647688" y="1709928"/>
            <a:ext cx="1728216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接入 DB · GitHub</a:t>
            </a:r>
            <a:endParaRPr lang="en-US" sz="10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· 内部 API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3063240"/>
            <a:ext cx="187452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5240">
            <a:solidFill>
              <a:srgbClr val="10B98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57200" y="3063240"/>
            <a:ext cx="1874520" cy="36576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33" name="Shape 31"/>
          <p:cNvSpPr/>
          <p:nvPr/>
        </p:nvSpPr>
        <p:spPr>
          <a:xfrm>
            <a:off x="548640" y="3172968"/>
            <a:ext cx="548640" cy="201168"/>
          </a:xfrm>
          <a:prstGeom prst="roundRect">
            <a:avLst>
              <a:gd name="adj" fmla="val 50000"/>
            </a:avLst>
          </a:prstGeom>
          <a:solidFill>
            <a:srgbClr val="10B981"/>
          </a:solidFill>
        </p:spPr>
      </p:sp>
      <p:sp>
        <p:nvSpPr>
          <p:cNvPr id="34" name="Text 32"/>
          <p:cNvSpPr/>
          <p:nvPr/>
        </p:nvSpPr>
        <p:spPr>
          <a:xfrm>
            <a:off x="548640" y="3172968"/>
            <a:ext cx="5486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执行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30352" y="3429000"/>
            <a:ext cx="172821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生成精准 Prompt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30352" y="3721608"/>
            <a:ext cx="1728216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 帮你优化指令</a:t>
            </a:r>
            <a:endParaRPr lang="en-US" sz="10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结构化任务描述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331720" y="3383280"/>
            <a:ext cx="16459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4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›</a:t>
            </a:r>
            <a:endParaRPr lang="en-US" sz="2000" dirty="0"/>
          </a:p>
        </p:txBody>
      </p:sp>
      <p:sp>
        <p:nvSpPr>
          <p:cNvPr id="38" name="Shape 36"/>
          <p:cNvSpPr/>
          <p:nvPr/>
        </p:nvSpPr>
        <p:spPr>
          <a:xfrm>
            <a:off x="2496312" y="3063240"/>
            <a:ext cx="187452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5240">
            <a:solidFill>
              <a:srgbClr val="E63946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2496312" y="3063240"/>
            <a:ext cx="1874520" cy="36576"/>
          </a:xfrm>
          <a:prstGeom prst="rect">
            <a:avLst/>
          </a:prstGeom>
          <a:solidFill>
            <a:srgbClr val="E63946"/>
          </a:solidFill>
        </p:spPr>
      </p:sp>
      <p:sp>
        <p:nvSpPr>
          <p:cNvPr id="40" name="Shape 38"/>
          <p:cNvSpPr/>
          <p:nvPr/>
        </p:nvSpPr>
        <p:spPr>
          <a:xfrm>
            <a:off x="2587752" y="3172968"/>
            <a:ext cx="548640" cy="201168"/>
          </a:xfrm>
          <a:prstGeom prst="roundRect">
            <a:avLst>
              <a:gd name="adj" fmla="val 50000"/>
            </a:avLst>
          </a:prstGeom>
          <a:solidFill>
            <a:srgbClr val="E63946"/>
          </a:solidFill>
        </p:spPr>
      </p:sp>
      <p:sp>
        <p:nvSpPr>
          <p:cNvPr id="41" name="Text 39"/>
          <p:cNvSpPr/>
          <p:nvPr/>
        </p:nvSpPr>
        <p:spPr>
          <a:xfrm>
            <a:off x="2587752" y="3172968"/>
            <a:ext cx="5486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执行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2569464" y="3429000"/>
            <a:ext cx="172821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CC 执行任务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2569464" y="3721608"/>
            <a:ext cx="1728216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多文件编辑 · 子任务</a:t>
            </a:r>
            <a:endParaRPr lang="en-US" sz="10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自动读写项目代码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370832" y="3383280"/>
            <a:ext cx="16459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4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›</a:t>
            </a:r>
            <a:endParaRPr lang="en-US" sz="2000" dirty="0"/>
          </a:p>
        </p:txBody>
      </p:sp>
      <p:sp>
        <p:nvSpPr>
          <p:cNvPr id="45" name="Shape 43"/>
          <p:cNvSpPr/>
          <p:nvPr/>
        </p:nvSpPr>
        <p:spPr>
          <a:xfrm>
            <a:off x="4535424" y="3063240"/>
            <a:ext cx="187452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5240">
            <a:solidFill>
              <a:srgbClr val="E67E22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535424" y="3063240"/>
            <a:ext cx="1874520" cy="36576"/>
          </a:xfrm>
          <a:prstGeom prst="rect">
            <a:avLst/>
          </a:prstGeom>
          <a:solidFill>
            <a:srgbClr val="E67E22"/>
          </a:solidFill>
        </p:spPr>
      </p:sp>
      <p:sp>
        <p:nvSpPr>
          <p:cNvPr id="47" name="Shape 45"/>
          <p:cNvSpPr/>
          <p:nvPr/>
        </p:nvSpPr>
        <p:spPr>
          <a:xfrm>
            <a:off x="4626864" y="3172968"/>
            <a:ext cx="548640" cy="201168"/>
          </a:xfrm>
          <a:prstGeom prst="roundRect">
            <a:avLst>
              <a:gd name="adj" fmla="val 50000"/>
            </a:avLst>
          </a:prstGeom>
          <a:solidFill>
            <a:srgbClr val="E67E22"/>
          </a:solidFill>
        </p:spPr>
      </p:sp>
      <p:sp>
        <p:nvSpPr>
          <p:cNvPr id="48" name="Text 46"/>
          <p:cNvSpPr/>
          <p:nvPr/>
        </p:nvSpPr>
        <p:spPr>
          <a:xfrm>
            <a:off x="4626864" y="3172968"/>
            <a:ext cx="5486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验证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4608576" y="3429000"/>
            <a:ext cx="172821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检查 &amp; 运行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4608576" y="3721608"/>
            <a:ext cx="1728216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代码 · 跑测试</a:t>
            </a:r>
            <a:endParaRPr lang="en-US" sz="10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验证功能正确性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409944" y="3383280"/>
            <a:ext cx="16459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4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›</a:t>
            </a:r>
            <a:endParaRPr lang="en-US" sz="2000" dirty="0"/>
          </a:p>
        </p:txBody>
      </p:sp>
      <p:sp>
        <p:nvSpPr>
          <p:cNvPr id="52" name="Shape 50"/>
          <p:cNvSpPr/>
          <p:nvPr/>
        </p:nvSpPr>
        <p:spPr>
          <a:xfrm>
            <a:off x="6574536" y="3063240"/>
            <a:ext cx="187452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5240">
            <a:solidFill>
              <a:srgbClr val="3B82F6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6574536" y="3063240"/>
            <a:ext cx="1874520" cy="36576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54" name="Shape 52"/>
          <p:cNvSpPr/>
          <p:nvPr/>
        </p:nvSpPr>
        <p:spPr>
          <a:xfrm>
            <a:off x="6665976" y="3172968"/>
            <a:ext cx="548640" cy="201168"/>
          </a:xfrm>
          <a:prstGeom prst="roundRect">
            <a:avLst>
              <a:gd name="adj" fmla="val 50000"/>
            </a:avLst>
          </a:prstGeom>
          <a:solidFill>
            <a:srgbClr val="3B82F6"/>
          </a:solidFill>
        </p:spPr>
      </p:sp>
      <p:sp>
        <p:nvSpPr>
          <p:cNvPr id="55" name="Text 53"/>
          <p:cNvSpPr/>
          <p:nvPr/>
        </p:nvSpPr>
        <p:spPr>
          <a:xfrm>
            <a:off x="6665976" y="3172968"/>
            <a:ext cx="5486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优化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6647688" y="3429000"/>
            <a:ext cx="172821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调优迭代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6647688" y="3721608"/>
            <a:ext cx="1728216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显式调用 Skills</a:t>
            </a:r>
            <a:endParaRPr lang="en-US" sz="10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精细化打磨输出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457200" y="2331720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EEF0F6"/>
          </a:solidFill>
        </p:spPr>
      </p:sp>
      <p:sp>
        <p:nvSpPr>
          <p:cNvPr id="59" name="Text 57"/>
          <p:cNvSpPr/>
          <p:nvPr/>
        </p:nvSpPr>
        <p:spPr>
          <a:xfrm>
            <a:off x="457200" y="2331720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 准备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4114800" y="2468880"/>
            <a:ext cx="914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</a:rPr>
              <a:t>▼</a:t>
            </a:r>
            <a:endParaRPr lang="en-US" sz="1800" dirty="0"/>
          </a:p>
        </p:txBody>
      </p:sp>
      <p:sp>
        <p:nvSpPr>
          <p:cNvPr id="61" name="Shape 59"/>
          <p:cNvSpPr/>
          <p:nvPr/>
        </p:nvSpPr>
        <p:spPr>
          <a:xfrm>
            <a:off x="457200" y="4343400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EEF0F6"/>
          </a:solidFill>
        </p:spPr>
      </p:sp>
      <p:sp>
        <p:nvSpPr>
          <p:cNvPr id="62" name="Text 60"/>
          <p:cNvSpPr/>
          <p:nvPr/>
        </p:nvSpPr>
        <p:spPr>
          <a:xfrm>
            <a:off x="457200" y="4343400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 执行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7040880" y="4343400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EEF0F6"/>
          </a:solidFill>
        </p:spPr>
      </p:sp>
      <p:sp>
        <p:nvSpPr>
          <p:cNvPr id="64" name="Text 62"/>
          <p:cNvSpPr/>
          <p:nvPr/>
        </p:nvSpPr>
        <p:spPr>
          <a:xfrm>
            <a:off x="7040880" y="4343400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 持续迭代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914400"/>
            <a:ext cx="3657600" cy="3657600"/>
          </a:xfrm>
          <a:prstGeom prst="ellipse">
            <a:avLst/>
          </a:prstGeom>
          <a:solidFill>
            <a:srgbClr val="7C3AED">
              <a:alpha val="12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7315200" y="3200400"/>
            <a:ext cx="3200400" cy="3200400"/>
          </a:xfrm>
          <a:prstGeom prst="ellipse">
            <a:avLst/>
          </a:prstGeom>
          <a:solidFill>
            <a:srgbClr val="0891B2">
              <a:alpha val="12000"/>
            </a:srgbClr>
          </a:solidFill>
        </p:spPr>
      </p:sp>
      <p:sp>
        <p:nvSpPr>
          <p:cNvPr id="4" name="Text 2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总结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64008" cy="640080"/>
          </a:xfrm>
          <a:prstGeom prst="rect">
            <a:avLst/>
          </a:prstGeom>
          <a:solidFill>
            <a:srgbClr val="E63946"/>
          </a:solidFill>
        </p:spPr>
      </p:sp>
      <p:sp>
        <p:nvSpPr>
          <p:cNvPr id="6" name="Shape 4"/>
          <p:cNvSpPr/>
          <p:nvPr/>
        </p:nvSpPr>
        <p:spPr>
          <a:xfrm>
            <a:off x="612648" y="1097280"/>
            <a:ext cx="7434072" cy="640080"/>
          </a:xfrm>
          <a:prstGeom prst="rect">
            <a:avLst/>
          </a:prstGeom>
          <a:solidFill>
            <a:srgbClr val="262A48"/>
          </a:solidFill>
        </p:spPr>
      </p:sp>
      <p:sp>
        <p:nvSpPr>
          <p:cNvPr id="7" name="Text 5"/>
          <p:cNvSpPr/>
          <p:nvPr/>
        </p:nvSpPr>
        <p:spPr>
          <a:xfrm>
            <a:off x="822960" y="1115568"/>
            <a:ext cx="7040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四层架构各司其职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1426464"/>
            <a:ext cx="704088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接口层 → Agent 层 → 能力层 → 协议层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1920240"/>
            <a:ext cx="64008" cy="64008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10" name="Shape 8"/>
          <p:cNvSpPr/>
          <p:nvPr/>
        </p:nvSpPr>
        <p:spPr>
          <a:xfrm>
            <a:off x="612648" y="1920240"/>
            <a:ext cx="7434072" cy="640080"/>
          </a:xfrm>
          <a:prstGeom prst="rect">
            <a:avLst/>
          </a:prstGeom>
          <a:solidFill>
            <a:srgbClr val="262A48"/>
          </a:solidFill>
        </p:spPr>
      </p:sp>
      <p:sp>
        <p:nvSpPr>
          <p:cNvPr id="11" name="Text 9"/>
          <p:cNvSpPr/>
          <p:nvPr/>
        </p:nvSpPr>
        <p:spPr>
          <a:xfrm>
            <a:off x="822960" y="1938528"/>
            <a:ext cx="7040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从对话到工作流是核心演进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" y="2249424"/>
            <a:ext cx="704088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Box → Tool Use → MCP → Skills → 集成工具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743200"/>
            <a:ext cx="64008" cy="640080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14" name="Shape 12"/>
          <p:cNvSpPr/>
          <p:nvPr/>
        </p:nvSpPr>
        <p:spPr>
          <a:xfrm>
            <a:off x="612648" y="2743200"/>
            <a:ext cx="7434072" cy="640080"/>
          </a:xfrm>
          <a:prstGeom prst="rect">
            <a:avLst/>
          </a:prstGeom>
          <a:solidFill>
            <a:srgbClr val="262A48"/>
          </a:solidFill>
        </p:spPr>
      </p:sp>
      <p:sp>
        <p:nvSpPr>
          <p:cNvPr id="15" name="Text 13"/>
          <p:cNvSpPr/>
          <p:nvPr/>
        </p:nvSpPr>
        <p:spPr>
          <a:xfrm>
            <a:off x="822960" y="2761488"/>
            <a:ext cx="7040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MCP 管连接，Skills 管质量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2960" y="3072384"/>
            <a:ext cx="704088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正交互补，不是替代关系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566160"/>
            <a:ext cx="64008" cy="640080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18" name="Shape 16"/>
          <p:cNvSpPr/>
          <p:nvPr/>
        </p:nvSpPr>
        <p:spPr>
          <a:xfrm>
            <a:off x="612648" y="3566160"/>
            <a:ext cx="7434072" cy="640080"/>
          </a:xfrm>
          <a:prstGeom prst="rect">
            <a:avLst/>
          </a:prstGeom>
          <a:solidFill>
            <a:srgbClr val="262A48"/>
          </a:solidFill>
        </p:spPr>
      </p:sp>
      <p:sp>
        <p:nvSpPr>
          <p:cNvPr id="19" name="Text 17"/>
          <p:cNvSpPr/>
          <p:nvPr/>
        </p:nvSpPr>
        <p:spPr>
          <a:xfrm>
            <a:off x="822960" y="3584448"/>
            <a:ext cx="7040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Claude Code = 集大成者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22960" y="3895344"/>
            <a:ext cx="704088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+ Skills + MCP + Agent，端到端开发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4297680"/>
            <a:ext cx="8046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不只是你的补全工具，它可以是你的协作伙伴。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1492</Words>
  <Application>WPS Presentation</Application>
  <PresentationFormat>On-screen Show (16:9)</PresentationFormat>
  <Paragraphs>277</Paragraphs>
  <Slides>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25" baseType="lpstr">
      <vt:lpstr>Arial</vt:lpstr>
      <vt:lpstr>SimSun</vt:lpstr>
      <vt:lpstr>Wingdings</vt:lpstr>
      <vt:lpstr>Calibri</vt:lpstr>
      <vt:lpstr>Helvetica Neue</vt:lpstr>
      <vt:lpstr>Calibri</vt:lpstr>
      <vt:lpstr>Calibri</vt:lpstr>
      <vt:lpstr>Arial Black</vt:lpstr>
      <vt:lpstr>Arial Black</vt:lpstr>
      <vt:lpstr>Arial Black</vt:lpstr>
      <vt:lpstr>Arial</vt:lpstr>
      <vt:lpstr>Arial</vt:lpstr>
      <vt:lpstr>SimSun</vt:lpstr>
      <vt:lpstr>宋体-简</vt:lpstr>
      <vt:lpstr>Microsoft YaHei</vt:lpstr>
      <vt:lpstr>汉仪旗黑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别只用 Tab 补全——AI 辅助开发的正确打开方式</dc:title>
  <dc:creator>AI Workshop</dc:creator>
  <dc:subject>PptxGenJS Presentation</dc:subject>
  <cp:lastModifiedBy>hongyusun</cp:lastModifiedBy>
  <cp:revision>2</cp:revision>
  <dcterms:created xsi:type="dcterms:W3CDTF">2026-04-02T05:56:17Z</dcterms:created>
  <dcterms:modified xsi:type="dcterms:W3CDTF">2026-04-02T05:56:17Z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1033-5.7.0.8090</vt:lpwstr>
  </property>
</Properties>
</file>